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103120"/>
            <a:ext cx="5943600" cy="5943600"/>
          </a:xfrm>
          <a:prstGeom prst="ellipse">
            <a:avLst/>
          </a:prstGeom>
          <a:solidFill>
            <a:srgbClr val="2E3A7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914400"/>
            <a:ext cx="3291840" cy="3291840"/>
          </a:xfrm>
          <a:prstGeom prst="ellipse">
            <a:avLst/>
          </a:prstGeom>
          <a:ln w="19050">
            <a:solidFill>
              <a:srgbClr val="E87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· MÓDULO EXCEL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192024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Ventas Online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una Tienda Ecuatoriana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y transformación de datos en Power Query, modelado en Power Pivot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análisis mediante tablas dinámicas y segmentadores.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257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5760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46120" y="5257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46120" y="5760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52160" y="5257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852160" y="5760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PROPIO (IA)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Datos · Excel Avanzado · Julio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FUENTE Y CARACTERÍSTICAS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977640" cy="47091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sintético de ventas online de una tienda ecuatoriana, generado con apoyo de IA para simular condiciones reales de datos “sucios” típicas de un entorno comercial.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3383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68680" y="3950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4434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68680" y="5001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55321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7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· productos · ciudad · fecha · precio · estado · pago · correo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50876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74920" y="173736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715000" y="16733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en 5 formatos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74920" y="2130552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dd/mm/aaaa, mm-dd-aaaa, aaaa/mm/dd y más, mezclados en la misma columna.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458200" y="150876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0" y="173736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26880" y="16733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inconsistente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686800" y="2130552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Mayúsculas y minúsculas mezcladas, con espacios extra en ciudades, categorías, pagos y estados.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315468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74920" y="338328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715000" y="33192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sucios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074920" y="3776472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Algunos con símbolo “$”, otros con coma decimal, otros vacíos.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458200" y="315468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686800" y="338328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326880" y="33192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Cantidades erróneas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686800" y="3776472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en cero, negativos y hasta un caso en texto (“dos”).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480060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74920" y="502920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3" name="Text 31"/>
          <p:cNvSpPr/>
          <p:nvPr/>
        </p:nvSpPr>
        <p:spPr>
          <a:xfrm>
            <a:off x="507492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715000" y="49651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Correos inválidos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074920" y="5422392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con campo de correo vacío o mal escrito.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458200" y="480060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686800" y="502920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326880" y="49651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duplicadas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686800" y="5422392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repetidos que distorsionan los totales.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PROCESO EN POWER QUERY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Limpieza y Transformación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270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7602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760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167335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Tipificación de columnas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0" y="1627632"/>
            <a:ext cx="6309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definió el formato correcto (texto, número o fecha) de cada columna desde la barra de comandos superior.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96896"/>
            <a:ext cx="109270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96112" y="280263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8026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2715768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Estandarización de texto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2670048"/>
            <a:ext cx="6309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a mayúsculas y recorte de espacios iniciales y duplicados en ciudades, categorías, métodos de pago y estados.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639312"/>
            <a:ext cx="109270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38450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8450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3758184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Reemplazo de valores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3712464"/>
            <a:ext cx="6309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“Reemplazar valores” para corregir comas por puntos y guiones por barras en correos y fechas.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681728"/>
            <a:ext cx="109270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8874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8874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91640" y="4800600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Depuración de registros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4754880"/>
            <a:ext cx="6309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de filas vacías y de registros duplicados para conservar solo información válida.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724144"/>
            <a:ext cx="109270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6112" y="592988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59298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91640" y="5843016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avanzado (lenguaje M)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20640" y="5797296"/>
            <a:ext cx="6309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M generado con apoyo de IA para estandarizar automáticamente los errores más comunes de digitación en correos y fechas.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POWER PIVOT, TABLAS DINÁMICAS Y SEGMENTADORES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y Metodología de Análisis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Pivot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construyó el modelo de datos a partir de la tabla limpia, habilitando cálculos consistentes para todo el análisis.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15544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828800"/>
            <a:ext cx="548640" cy="54864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75488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Dinámicas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926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generaron cuatro tablas dinámicas para resumir ventas, ingresos, estacionalidad y estado logístico de los pedidos.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21040" y="15544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0" y="1828800"/>
            <a:ext cx="548640" cy="54864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59536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Segmentadores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95360" y="2926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interconectados entre los gráficos permiten explorar los datos de forma cruzada y dinámica.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ANALIZADAS CON TABLAS DINÁMICAS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2971800" cy="594360"/>
          </a:xfrm>
          <a:prstGeom prst="roundRect">
            <a:avLst>
              <a:gd name="adj" fmla="val 49231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6177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vendida x Ciudad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86200" y="4617720"/>
            <a:ext cx="2379269" cy="594360"/>
          </a:xfrm>
          <a:prstGeom prst="roundRect">
            <a:avLst>
              <a:gd name="adj" fmla="val 49231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3886200" y="4617720"/>
            <a:ext cx="237926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$ x Ciudad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9789" y="4617720"/>
            <a:ext cx="2675534" cy="594360"/>
          </a:xfrm>
          <a:prstGeom prst="roundRect">
            <a:avLst>
              <a:gd name="adj" fmla="val 49231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539789" y="4617720"/>
            <a:ext cx="26755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$ x Trimestre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489643" y="4617720"/>
            <a:ext cx="2181758" cy="594360"/>
          </a:xfrm>
          <a:prstGeom prst="roundRect">
            <a:avLst>
              <a:gd name="adj" fmla="val 49231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9489643" y="4617720"/>
            <a:ext cx="21817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Pedidos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486400"/>
            <a:ext cx="10927080" cy="868680"/>
          </a:xfrm>
          <a:prstGeom prst="roundRect">
            <a:avLst>
              <a:gd name="adj" fmla="val 12632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14400" y="5486400"/>
            <a:ext cx="10378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flujo — datos limpios → modelo → tablas dinámicas → segmentadores — permite pasar de un archivo con errores de digitación a un panel analítico confiable y explorable.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HALLAZGO PRINCIPAL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Volumen vs. Ingresos por Ciudad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VENDIDA POR CIUDAD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26364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($) POR CIUDAD</a:t>
            </a:r>
            <a:endParaRPr lang="en-US" sz="1150" dirty="0"/>
          </a:p>
        </p:txBody>
      </p:sp>
      <p:pic>
        <p:nvPicPr>
          <p:cNvPr id="6" name="Image 0" descr="/mnt/user-data/uploads/1784170484270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211" y="1737360"/>
            <a:ext cx="5099818" cy="3429000"/>
          </a:xfrm>
          <a:prstGeom prst="rect">
            <a:avLst/>
          </a:prstGeom>
        </p:spPr>
      </p:pic>
      <p:pic>
        <p:nvPicPr>
          <p:cNvPr id="7" name="Image 1" descr="/mnt/user-data/uploads/1784170490879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120" y="1737360"/>
            <a:ext cx="5334000" cy="3429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440680"/>
            <a:ext cx="111099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5440680"/>
            <a:ext cx="109728" cy="1143000"/>
          </a:xfrm>
          <a:prstGeom prst="roundRect">
            <a:avLst/>
          </a:prstGeom>
          <a:solidFill>
            <a:srgbClr val="E8734A"/>
          </a:solidFill>
          <a:ln/>
        </p:spPr>
      </p:sp>
      <p:sp>
        <p:nvSpPr>
          <p:cNvPr id="10" name="Text 6"/>
          <p:cNvSpPr/>
          <p:nvPr/>
        </p:nvSpPr>
        <p:spPr>
          <a:xfrm>
            <a:off x="914400" y="5440680"/>
            <a:ext cx="10561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 Domingo generó el mayor ingreso ($153,048.16) con apenas 30 unidades vendidas, mientras que Guayaquil — líder en volumen con 41 pedidos — apenas alcanzó $4,307.82. La brecha sugiere un valor promedio por pedido mucho mayor en Santo Domingo, posiblemente ligado a productos de mayor precio.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HALLAZGO PRINCIPAL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de los Pedidos</a:t>
            </a:r>
            <a:endParaRPr lang="en-US" sz="3000" dirty="0"/>
          </a:p>
        </p:txBody>
      </p:sp>
      <p:pic>
        <p:nvPicPr>
          <p:cNvPr id="4" name="Image 0" descr="/mnt/user-data/uploads/1784170496408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5623351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37960" y="178765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6903720" y="1600200"/>
            <a:ext cx="2743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PROCESO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646920" y="1600200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537960" y="2487168"/>
            <a:ext cx="201168" cy="20116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6903720" y="2299716"/>
            <a:ext cx="2743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ENTREGADO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646920" y="2299716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537960" y="3186684"/>
            <a:ext cx="201168" cy="201168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2" name="Text 9"/>
          <p:cNvSpPr/>
          <p:nvPr/>
        </p:nvSpPr>
        <p:spPr>
          <a:xfrm>
            <a:off x="6903720" y="2999232"/>
            <a:ext cx="2743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DEVUELTO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646920" y="2999232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537960" y="3886200"/>
            <a:ext cx="201168" cy="201168"/>
          </a:xfrm>
          <a:prstGeom prst="ellipse">
            <a:avLst/>
          </a:prstGeom>
          <a:solidFill>
            <a:srgbClr val="29ABE2"/>
          </a:solidFill>
          <a:ln/>
        </p:spPr>
      </p:sp>
      <p:sp>
        <p:nvSpPr>
          <p:cNvPr id="15" name="Text 12"/>
          <p:cNvSpPr/>
          <p:nvPr/>
        </p:nvSpPr>
        <p:spPr>
          <a:xfrm>
            <a:off x="6903720" y="3698748"/>
            <a:ext cx="2743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CANCELADO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646920" y="3698748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9AB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6537960" y="4585716"/>
            <a:ext cx="201168" cy="201168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8" name="Text 15"/>
          <p:cNvSpPr/>
          <p:nvPr/>
        </p:nvSpPr>
        <p:spPr>
          <a:xfrm>
            <a:off x="6903720" y="4398264"/>
            <a:ext cx="2743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9646920" y="4398264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8E44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640080" y="5486400"/>
            <a:ext cx="109728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0080" y="5486400"/>
            <a:ext cx="109728" cy="1097280"/>
          </a:xfrm>
          <a:prstGeom prst="roundRect">
            <a:avLst/>
          </a:prstGeom>
          <a:solidFill>
            <a:srgbClr val="E8734A"/>
          </a:solidFill>
          <a:ln/>
        </p:spPr>
      </p:sp>
      <p:sp>
        <p:nvSpPr>
          <p:cNvPr id="22" name="Text 19"/>
          <p:cNvSpPr/>
          <p:nvPr/>
        </p:nvSpPr>
        <p:spPr>
          <a:xfrm>
            <a:off x="1005840" y="54864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pedidos permanecen “en proceso”, superando a los 35 ya entregados: una posible señal de cuellos de botella logísticos. Los pedidos devueltos (30) y cancelados (27) suman cerca del 35% del total de pedidos registrados.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HALLAZGO PRINCIPAL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Tendencia de Ingresos por Trimestre</a:t>
            </a:r>
            <a:endParaRPr lang="en-US" sz="3000" dirty="0"/>
          </a:p>
        </p:txBody>
      </p:sp>
      <p:pic>
        <p:nvPicPr>
          <p:cNvPr id="4" name="Image 0" descr="/mnt/user-data/uploads/1784170501091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6327583" cy="4617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691640"/>
            <a:ext cx="41148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MÁXIMO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0" y="21488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$199,211.52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77240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Trimestre 3 · 2024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452360" y="3749040"/>
            <a:ext cx="41148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HISTÓRICO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0" y="42062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$134.96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7772400" y="4800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Trimestre 4 · 2025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5715000"/>
            <a:ext cx="11201400" cy="868680"/>
          </a:xfrm>
          <a:prstGeom prst="roundRect">
            <a:avLst>
              <a:gd name="adj" fmla="val 12632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77240" y="5715000"/>
            <a:ext cx="10652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tercer trimestre de 2024 marcó el pico histórico de ingresos, seguido de una caída sostenida que llevó al mínimo en el cuarto trimestre de 2025 — una señal clara de pérdida de tracción a lo largo de 2025.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029200" cy="5029200"/>
          </a:xfrm>
          <a:prstGeom prst="ellipse">
            <a:avLst/>
          </a:prstGeom>
          <a:solidFill>
            <a:srgbClr val="2E3A7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PROYECTO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e Insights Clave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5257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 Domingo lidera en ingresos ($153,048.16) sin ser la ciudad con más pedidos, lo que indica un ticket promedio muy superior al del resto del país.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69164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2286000"/>
            <a:ext cx="5257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Guayaquil concentra el mayor volumen (41 pedidos) pero genera ingresos mínimos, sugiriendo productos de menor valor o descuentos elevados.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480560"/>
            <a:ext cx="5257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de 164 pedidos siguen “en proceso”, más que los ya entregados (35): posible cuello de botella logístico a investigar.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388620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4480560"/>
            <a:ext cx="5257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ingresos alcanzaron su máximo en el Trim. 3 de 2024 y colapsaron hacia el Trim. 4 de 2025, reflejando una caída sostenida durante 2025.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943600"/>
            <a:ext cx="10927080" cy="658368"/>
          </a:xfrm>
          <a:prstGeom prst="roundRect">
            <a:avLst>
              <a:gd name="adj" fmla="val 13889"/>
            </a:avLst>
          </a:prstGeom>
          <a:solidFill>
            <a:srgbClr val="E8734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943600"/>
            <a:ext cx="10378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Recomendación: profundizar el análisis del ticket promedio por ciudad y evaluar la eficiencia logística para reducir pedidos estancados.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2026-07-16T02:59:24Z</dcterms:created>
  <dcterms:modified xsi:type="dcterms:W3CDTF">2026-07-16T02:59:24Z</dcterms:modified>
</cp:coreProperties>
</file>